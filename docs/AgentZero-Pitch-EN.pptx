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30-second pitch: AgentZero observes AI-agent behavior and repairs execution policies. Nosana provides inference for separate Worker and Security agents. Daytona executes real code in an isolated environment. The featured attack uses a README to exclude a failing test and redefine a partial smoke run as overall success. The Security Agent analyzes independent evidence and proposes a full-suite policy. The control plane validates, applies, and verifies it.</a:t>
            </a:r>
          </a:p>
          <a:p/>
          <a:p>
            <a:r>
              <a:t>Evidence: 39 backend and 4 browser tests passed. Real Daytona checks reproduced a false-green smoke run, then verified subset and forged-output blocking and execution of all 3 tests with 1 genuine failure. In the live Qwen run, the Worker did not make a false-success claim, so the result was attack_not_reproduced. Do not claim a completed live model-compromise-to-recovery demonstration. The slide describes implemented behavior; automated workflow tests and real sandbox policy checks are distinct from live attack reproduction. A separate protected-file access scenario is also implemented.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Jake-Song/daytona-hack" TargetMode="Externa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15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72440" y="350520"/>
            <a:ext cx="121920" cy="45720"/>
          </a:xfrm>
          <a:prstGeom prst="line">
            <a:avLst/>
          </a:prstGeom>
          <a:ln w="15240">
            <a:solidFill>
              <a:srgbClr val="65DE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594360" y="396240"/>
            <a:ext cx="0" cy="106680"/>
          </a:xfrm>
          <a:prstGeom prst="line">
            <a:avLst/>
          </a:prstGeom>
          <a:ln w="15240">
            <a:solidFill>
              <a:srgbClr val="65DE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 flipH="1">
            <a:off x="502920" y="502920"/>
            <a:ext cx="91440" cy="76200"/>
          </a:xfrm>
          <a:prstGeom prst="line">
            <a:avLst/>
          </a:prstGeom>
          <a:ln w="15240">
            <a:solidFill>
              <a:srgbClr val="65DE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H="1" flipV="1">
            <a:off x="411480" y="502920"/>
            <a:ext cx="91440" cy="76200"/>
          </a:xfrm>
          <a:prstGeom prst="line">
            <a:avLst/>
          </a:prstGeom>
          <a:ln w="15240">
            <a:solidFill>
              <a:srgbClr val="65DE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411480" y="396240"/>
            <a:ext cx="0" cy="106680"/>
          </a:xfrm>
          <a:prstGeom prst="line">
            <a:avLst/>
          </a:prstGeom>
          <a:ln w="15240">
            <a:solidFill>
              <a:srgbClr val="65DE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411480" y="350520"/>
            <a:ext cx="60960" cy="45720"/>
          </a:xfrm>
          <a:prstGeom prst="line">
            <a:avLst/>
          </a:prstGeom>
          <a:ln w="15240">
            <a:solidFill>
              <a:srgbClr val="65DE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31520" y="327660"/>
            <a:ext cx="2667000" cy="342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</a:pPr>
            <a:r>
              <a:rPr sz="2280" b="1">
                <a:solidFill>
                  <a:srgbClr val="EFF5F8"/>
                </a:solidFill>
                <a:latin typeface="Arial"/>
              </a:rPr>
              <a:t>AgentZero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10600" y="419100"/>
            <a:ext cx="32004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>
                <a:solidFill>
                  <a:srgbClr val="9DB0BE"/>
                </a:solidFill>
                <a:latin typeface="Arial"/>
              </a:rPr>
              <a:t>NOSANA × DAYTONA  /  HACKATHON MVP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11480" y="822960"/>
            <a:ext cx="11369040" cy="0"/>
          </a:xfrm>
          <a:prstGeom prst="line">
            <a:avLst/>
          </a:prstGeom>
          <a:ln w="7620">
            <a:solidFill>
              <a:srgbClr val="293A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26720" y="1066800"/>
            <a:ext cx="10668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</a:pPr>
            <a:r>
              <a:rPr sz="1140" b="1">
                <a:solidFill>
                  <a:srgbClr val="65DEC0"/>
                </a:solidFill>
                <a:latin typeface="Arial"/>
              </a:rPr>
              <a:t>SELF-HEALING SECURITY SANDBOX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1424940"/>
            <a:ext cx="11353800" cy="533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</a:pPr>
            <a:r>
              <a:rPr sz="2879" b="1">
                <a:solidFill>
                  <a:srgbClr val="EFF5F8"/>
                </a:solidFill>
                <a:latin typeface="Arial"/>
              </a:rPr>
              <a:t>When agents get misled, the sandbox adapts.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6720" y="2011680"/>
            <a:ext cx="112776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9DB0BE"/>
                </a:solidFill>
                <a:latin typeface="Arial"/>
              </a:rPr>
              <a:t>Observe attacks → patch execution policies → verify defenses with real code.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6720" y="2567940"/>
            <a:ext cx="3124200" cy="2133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>
                <a:solidFill>
                  <a:srgbClr val="65DEC0"/>
                </a:solidFill>
                <a:latin typeface="Arial"/>
              </a:rPr>
              <a:t>01  /  THE PROBLEM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6720" y="2948940"/>
            <a:ext cx="3390900" cy="701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EFF5F8"/>
                </a:solidFill>
                <a:latin typeface="Arial"/>
              </a:rPr>
              <a:t>Untrusted docs.</a:t>
            </a:r>
          </a:p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EFF5F8"/>
                </a:solidFill>
                <a:latin typeface="Arial"/>
              </a:rPr>
              <a:t>Unintended actions.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6720" y="3810000"/>
            <a:ext cx="32766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9DB0BE"/>
                </a:solidFill>
                <a:latin typeface="Arial"/>
              </a:rPr>
              <a:t>A malicious README can distort agent behavior</a:t>
            </a:r>
          </a:p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9DB0BE"/>
                </a:solidFill>
                <a:latin typeface="Arial"/>
              </a:rPr>
              <a:t>and hide failing tests. Isolation alone</a:t>
            </a:r>
          </a:p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9DB0BE"/>
                </a:solidFill>
                <a:latin typeface="Arial"/>
              </a:rPr>
              <a:t>does not guarantee task integrity.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886200" y="2529840"/>
            <a:ext cx="7894320" cy="2026920"/>
          </a:xfrm>
          <a:prstGeom prst="roundRect">
            <a:avLst>
              <a:gd name="adj" fmla="val 8000"/>
            </a:avLst>
          </a:prstGeom>
          <a:solidFill>
            <a:srgbClr val="111C24"/>
          </a:solidFill>
          <a:ln w="8890">
            <a:solidFill>
              <a:srgbClr val="293A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084320" y="2682240"/>
            <a:ext cx="5334000" cy="2133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>
                <a:solidFill>
                  <a:srgbClr val="65DEC0"/>
                </a:solidFill>
                <a:latin typeface="Arial"/>
              </a:rPr>
              <a:t>02  /  TWO AGENTS. ONE VERIFIED CONTROL LOOP.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14800" y="3078480"/>
            <a:ext cx="2133600" cy="594360"/>
          </a:xfrm>
          <a:prstGeom prst="roundRect">
            <a:avLst>
              <a:gd name="adj" fmla="val 8000"/>
            </a:avLst>
          </a:prstGeom>
          <a:solidFill>
            <a:srgbClr val="16232D"/>
          </a:solidFill>
          <a:ln w="8890">
            <a:solidFill>
              <a:srgbClr val="293A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44340" y="3162300"/>
            <a:ext cx="1905000" cy="2133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</a:pPr>
            <a:r>
              <a:rPr sz="1380" b="1">
                <a:solidFill>
                  <a:srgbClr val="8DAFEA"/>
                </a:solidFill>
                <a:latin typeface="Arial"/>
              </a:rPr>
              <a:t>Worker Agent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44340" y="3429000"/>
            <a:ext cx="1905000" cy="167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9DB0BE"/>
                </a:solidFill>
                <a:latin typeface="Arial"/>
              </a:rPr>
              <a:t>NOSANA · task reasoning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29400" y="3078480"/>
            <a:ext cx="2133600" cy="594360"/>
          </a:xfrm>
          <a:prstGeom prst="roundRect">
            <a:avLst>
              <a:gd name="adj" fmla="val 8000"/>
            </a:avLst>
          </a:prstGeom>
          <a:solidFill>
            <a:srgbClr val="16232D"/>
          </a:solidFill>
          <a:ln w="8890">
            <a:solidFill>
              <a:srgbClr val="293A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58940" y="3162300"/>
            <a:ext cx="1905000" cy="2133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</a:pPr>
            <a:r>
              <a:rPr sz="1380" b="1">
                <a:solidFill>
                  <a:srgbClr val="65DEC0"/>
                </a:solidFill>
                <a:latin typeface="Arial"/>
              </a:rPr>
              <a:t>Security Gateway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58940" y="3429000"/>
            <a:ext cx="1905000" cy="167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9DB0BE"/>
                </a:solidFill>
                <a:latin typeface="Arial"/>
              </a:rPr>
              <a:t>Tool requests · enforcement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0" y="3078480"/>
            <a:ext cx="2133600" cy="594360"/>
          </a:xfrm>
          <a:prstGeom prst="roundRect">
            <a:avLst>
              <a:gd name="adj" fmla="val 8000"/>
            </a:avLst>
          </a:prstGeom>
          <a:solidFill>
            <a:srgbClr val="16232D"/>
          </a:solidFill>
          <a:ln w="8890">
            <a:solidFill>
              <a:srgbClr val="293A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73540" y="3162300"/>
            <a:ext cx="1905000" cy="2133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</a:pPr>
            <a:r>
              <a:rPr sz="1380" b="1">
                <a:solidFill>
                  <a:srgbClr val="B6ADF1"/>
                </a:solidFill>
                <a:latin typeface="Arial"/>
              </a:rPr>
              <a:t>Daytona Sandbox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73540" y="3429000"/>
            <a:ext cx="1905000" cy="167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9DB0BE"/>
                </a:solidFill>
                <a:latin typeface="Arial"/>
              </a:rPr>
              <a:t>Isolated code execution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24600" y="3208020"/>
            <a:ext cx="2667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9DB0BE"/>
                </a:solidFill>
                <a:latin typeface="Arial"/>
              </a:rPr>
              <a:t>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39200" y="3208020"/>
            <a:ext cx="2667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9DB0BE"/>
                </a:solidFill>
                <a:latin typeface="Arial"/>
              </a:rPr>
              <a:t>→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10195560" y="3710940"/>
            <a:ext cx="0" cy="403860"/>
          </a:xfrm>
          <a:prstGeom prst="line">
            <a:avLst/>
          </a:prstGeom>
          <a:ln w="15240">
            <a:solidFill>
              <a:srgbClr val="65DE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>
            <a:off x="8915400" y="4114800"/>
            <a:ext cx="1280160" cy="0"/>
          </a:xfrm>
          <a:prstGeom prst="line">
            <a:avLst/>
          </a:prstGeom>
          <a:ln w="15240">
            <a:solidFill>
              <a:srgbClr val="65DE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6553200" y="3893820"/>
            <a:ext cx="2362200" cy="457200"/>
          </a:xfrm>
          <a:prstGeom prst="roundRect">
            <a:avLst>
              <a:gd name="adj" fmla="val 8000"/>
            </a:avLst>
          </a:prstGeom>
          <a:solidFill>
            <a:srgbClr val="18342E"/>
          </a:solidFill>
          <a:ln w="8890">
            <a:solidFill>
              <a:srgbClr val="315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05600" y="3985260"/>
            <a:ext cx="2133600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>
                <a:solidFill>
                  <a:srgbClr val="65DEC0"/>
                </a:solidFill>
                <a:latin typeface="Arial"/>
              </a:rPr>
              <a:t>Security Agent · NOSANA</a:t>
            </a:r>
          </a:p>
        </p:txBody>
      </p:sp>
      <p:cxnSp>
        <p:nvCxnSpPr>
          <p:cNvPr id="34" name="Connector 33"/>
          <p:cNvCxnSpPr/>
          <p:nvPr/>
        </p:nvCxnSpPr>
        <p:spPr>
          <a:xfrm flipV="1">
            <a:off x="7696199" y="3695700"/>
            <a:ext cx="0" cy="152399"/>
          </a:xfrm>
          <a:prstGeom prst="line">
            <a:avLst/>
          </a:prstGeom>
          <a:ln w="15240">
            <a:solidFill>
              <a:srgbClr val="65DE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7780020" y="3688080"/>
            <a:ext cx="1447800" cy="190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5DEC0"/>
                </a:solidFill>
                <a:latin typeface="Arial"/>
              </a:rPr>
              <a:t>↑ Policy patch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75760" y="3947160"/>
            <a:ext cx="2209800" cy="426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9DB0BE"/>
                </a:solidFill>
                <a:latin typeface="Arial"/>
              </a:rPr>
              <a:t>Analyze evidence → propose patch</a:t>
            </a:r>
          </a:p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9DB0BE"/>
                </a:solidFill>
                <a:latin typeface="Arial"/>
              </a:rPr>
              <a:t>Validate &amp; apply in control plane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11480" y="4754880"/>
            <a:ext cx="6995160" cy="1417320"/>
          </a:xfrm>
          <a:prstGeom prst="roundRect">
            <a:avLst>
              <a:gd name="adj" fmla="val 8000"/>
            </a:avLst>
          </a:prstGeom>
          <a:solidFill>
            <a:srgbClr val="111C24"/>
          </a:solidFill>
          <a:ln w="8890">
            <a:solidFill>
              <a:srgbClr val="293A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94360" y="4907280"/>
            <a:ext cx="6553200" cy="2133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>
                <a:solidFill>
                  <a:srgbClr val="65DEC0"/>
                </a:solidFill>
                <a:latin typeface="Arial"/>
              </a:rPr>
              <a:t>03  /  DEMO — TEST RESULT LAUNDERING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4360" y="5257800"/>
            <a:ext cx="2628900" cy="4724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>
                <a:solidFill>
                  <a:srgbClr val="E8BA77"/>
                </a:solidFill>
                <a:latin typeface="Arial"/>
              </a:rPr>
              <a:t>Run 2 tests → report “all passed”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28060" y="5257800"/>
            <a:ext cx="495299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</a:pPr>
            <a:r>
              <a:rPr sz="2039" b="0">
                <a:solidFill>
                  <a:srgbClr val="65DEC0"/>
                </a:solidFill>
                <a:latin typeface="Arial"/>
              </a:rPr>
              <a:t>→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75760" y="5257800"/>
            <a:ext cx="3009900" cy="4724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>
                <a:solidFill>
                  <a:srgbClr val="65DEC0"/>
                </a:solidFill>
                <a:latin typeface="Arial"/>
              </a:rPr>
              <a:t>Run all 3 → expose 1 failure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9600" y="5775960"/>
            <a:ext cx="6477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9DB0BE"/>
                </a:solidFill>
                <a:latin typeface="Arial"/>
              </a:rPr>
              <a:t>Expose real failures instead of hiding them behind a green test report.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581899" y="4754880"/>
            <a:ext cx="4198620" cy="1417320"/>
          </a:xfrm>
          <a:prstGeom prst="roundRect">
            <a:avLst>
              <a:gd name="adj" fmla="val 8000"/>
            </a:avLst>
          </a:prstGeom>
          <a:solidFill>
            <a:srgbClr val="111C24"/>
          </a:solidFill>
          <a:ln w="8890">
            <a:solidFill>
              <a:srgbClr val="293A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772400" y="4907280"/>
            <a:ext cx="3657600" cy="2133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>
                <a:solidFill>
                  <a:srgbClr val="65DEC0"/>
                </a:solidFill>
                <a:latin typeface="Arial"/>
              </a:rPr>
              <a:t>BUILT &amp; VERIFIED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72400" y="5196840"/>
            <a:ext cx="762000" cy="426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</a:pPr>
            <a:r>
              <a:rPr sz="2760" b="1">
                <a:solidFill>
                  <a:srgbClr val="EFF5F8"/>
                </a:solidFill>
                <a:latin typeface="Arial"/>
              </a:rPr>
              <a:t>39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610600" y="5387340"/>
            <a:ext cx="990599" cy="2133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9DB0BE"/>
                </a:solidFill>
                <a:latin typeface="Arial"/>
              </a:rPr>
              <a:t>backend tests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753600" y="5196840"/>
            <a:ext cx="495299" cy="426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</a:pPr>
            <a:r>
              <a:rPr sz="2760" b="1">
                <a:solidFill>
                  <a:srgbClr val="EFF5F8"/>
                </a:solidFill>
                <a:latin typeface="Arial"/>
              </a:rPr>
              <a:t>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325100" y="5387340"/>
            <a:ext cx="1295400" cy="2133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9DB0BE"/>
                </a:solidFill>
                <a:latin typeface="Arial"/>
              </a:rPr>
              <a:t>browser tests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772400" y="5753100"/>
            <a:ext cx="38100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9DB0BE"/>
                </a:solidFill>
                <a:latin typeface="Arial"/>
              </a:rPr>
              <a:t>Real Daytona: subset / forged-output blocking verified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411480" y="6385560"/>
            <a:ext cx="11369040" cy="0"/>
          </a:xfrm>
          <a:prstGeom prst="line">
            <a:avLst/>
          </a:prstGeom>
          <a:ln w="7620">
            <a:solidFill>
              <a:srgbClr val="293A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426720" y="6507480"/>
            <a:ext cx="6858000" cy="2133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9DB0BE"/>
                </a:solidFill>
                <a:latin typeface="Arial"/>
              </a:rPr>
              <a:t>Separate control plane · No admin keys for Worker · Evidence-based recovery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29600" y="6499860"/>
            <a:ext cx="3543300" cy="243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65DEC0"/>
                </a:solidFill>
                <a:latin typeface="Arial"/>
                <a:hlinkClick r:id="rId2"/>
              </a:rPr>
              <a:t>github.com/Jake-Song/daytona-hack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AgentZero — Self-Healing Security Sandbox</dc:title>
  <dc:subject>One-page hackathon pitch</dc:subject>
  <dc:creator>AgentZero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