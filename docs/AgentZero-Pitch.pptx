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30초 피치: AgentZero는 AI Agent의 행동을 관찰하고 실행 정책을 자동 복구하는 시스템입니다. Nosana는 Worker와 Security Agent의 추론을, Daytona는 격리된 실제 코드 실행을 담당합니다. 대표 공격은 실패 테스트를 제외하고 전체가 성공했다고 보고하도록 유도하는 README입니다. Security Agent는 독립 검증 기록을 근거로 필수 전체 실행 정책을 제안하고, 제어 서비스가 적용·재검증합니다.</a:t>
            </a:r>
          </a:p>
          <a:p/>
          <a:p>
            <a:r>
              <a:t>검증 범위: 백엔드 39개, 브라우저 4개 테스트 통과. 실제 Daytona에서 부분 실행의 false-green과 패치 후 부분 실행·가짜 출력 차단, 전체 3개 실행에서 실제 실패 1개 검출을 확인했습니다. Qwen 실제 실행은 허위 성공을 보고하지 않아 attack_not_reproduced로 종료됐습니다. 라이브 모델이 공격에 넘어간 뒤 자율 복구까지 완료했다고 주장하지 않습니다. 슬라이드의 흐름은 구현된 복구 기능을 설명하며, 자동 테스트와 실제 정책 검증의 범위를 구분합니다. 기존 비밀 파일 보호 시나리오도 구현되어 있습니다.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ake-Song/daytona-hack" TargetMode="External"/><Relationship Id="rId3"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015"/>
        </a:solidFill>
        <a:effectLst/>
      </p:bgPr>
    </p:bg>
    <p:spTree>
      <p:nvGrpSpPr>
        <p:cNvPr id="1" name=""/>
        <p:cNvGrpSpPr/>
        <p:nvPr/>
      </p:nvGrpSpPr>
      <p:grpSpPr/>
      <p:cxnSp>
        <p:nvCxnSpPr>
          <p:cNvPr id="2" name="Connector 1"/>
          <p:cNvCxnSpPr/>
          <p:nvPr/>
        </p:nvCxnSpPr>
        <p:spPr>
          <a:xfrm>
            <a:off x="472440" y="350520"/>
            <a:ext cx="121920" cy="45720"/>
          </a:xfrm>
          <a:prstGeom prst="line">
            <a:avLst/>
          </a:prstGeom>
          <a:ln w="15240">
            <a:solidFill>
              <a:srgbClr val="65DEC0"/>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594360" y="396240"/>
            <a:ext cx="0" cy="106680"/>
          </a:xfrm>
          <a:prstGeom prst="line">
            <a:avLst/>
          </a:prstGeom>
          <a:ln w="15240">
            <a:solidFill>
              <a:srgbClr val="65DEC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502920" y="502920"/>
            <a:ext cx="91440" cy="76200"/>
          </a:xfrm>
          <a:prstGeom prst="line">
            <a:avLst/>
          </a:prstGeom>
          <a:ln w="15240">
            <a:solidFill>
              <a:srgbClr val="65DEC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flipV="1">
            <a:off x="411480" y="502920"/>
            <a:ext cx="91440" cy="76200"/>
          </a:xfrm>
          <a:prstGeom prst="line">
            <a:avLst/>
          </a:prstGeom>
          <a:ln w="15240">
            <a:solidFill>
              <a:srgbClr val="65DEC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411480" y="396240"/>
            <a:ext cx="0" cy="106680"/>
          </a:xfrm>
          <a:prstGeom prst="line">
            <a:avLst/>
          </a:prstGeom>
          <a:ln w="15240">
            <a:solidFill>
              <a:srgbClr val="65DEC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411480" y="350520"/>
            <a:ext cx="60960" cy="45720"/>
          </a:xfrm>
          <a:prstGeom prst="line">
            <a:avLst/>
          </a:prstGeom>
          <a:ln w="15240">
            <a:solidFill>
              <a:srgbClr val="65DEC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31520" y="327660"/>
            <a:ext cx="2667000" cy="342900"/>
          </a:xfrm>
          <a:prstGeom prst="rect">
            <a:avLst/>
          </a:prstGeom>
          <a:noFill/>
        </p:spPr>
        <p:txBody>
          <a:bodyPr wrap="none" lIns="0" rIns="0" tIns="0" bIns="0">
            <a:spAutoFit/>
          </a:bodyPr>
          <a:lstStyle/>
          <a:p>
            <a:pPr>
              <a:lnSpc>
                <a:spcPct val="117000"/>
              </a:lnSpc>
              <a:spcBef>
                <a:spcPts val="0"/>
              </a:spcBef>
              <a:spcAft>
                <a:spcPts val="0"/>
              </a:spcAft>
            </a:pPr>
            <a:r>
              <a:rPr sz="2280" b="1">
                <a:solidFill>
                  <a:srgbClr val="EFF5F8"/>
                </a:solidFill>
                <a:latin typeface="UnDotum"/>
              </a:rPr>
              <a:t>AgentZero</a:t>
            </a:r>
          </a:p>
        </p:txBody>
      </p:sp>
      <p:sp>
        <p:nvSpPr>
          <p:cNvPr id="9" name="TextBox 8"/>
          <p:cNvSpPr txBox="1"/>
          <p:nvPr/>
        </p:nvSpPr>
        <p:spPr>
          <a:xfrm>
            <a:off x="8610600" y="419100"/>
            <a:ext cx="3200400" cy="228600"/>
          </a:xfrm>
          <a:prstGeom prst="rect">
            <a:avLst/>
          </a:prstGeom>
          <a:noFill/>
        </p:spPr>
        <p:txBody>
          <a:bodyPr wrap="none" lIns="0" rIns="0" tIns="0" bIns="0">
            <a:spAutoFit/>
          </a:bodyPr>
          <a:lstStyle/>
          <a:p>
            <a:pPr>
              <a:lnSpc>
                <a:spcPct val="117000"/>
              </a:lnSpc>
              <a:spcBef>
                <a:spcPts val="0"/>
              </a:spcBef>
              <a:spcAft>
                <a:spcPts val="0"/>
              </a:spcAft>
            </a:pPr>
            <a:r>
              <a:rPr sz="960" b="0">
                <a:solidFill>
                  <a:srgbClr val="9DB0BE"/>
                </a:solidFill>
                <a:latin typeface="UnDotum"/>
              </a:rPr>
              <a:t>NOSANA × DAYTONA  /  HACKATHON MVP</a:t>
            </a:r>
          </a:p>
        </p:txBody>
      </p:sp>
      <p:cxnSp>
        <p:nvCxnSpPr>
          <p:cNvPr id="10" name="Connector 9"/>
          <p:cNvCxnSpPr/>
          <p:nvPr/>
        </p:nvCxnSpPr>
        <p:spPr>
          <a:xfrm>
            <a:off x="411480" y="822960"/>
            <a:ext cx="11369040" cy="0"/>
          </a:xfrm>
          <a:prstGeom prst="line">
            <a:avLst/>
          </a:prstGeom>
          <a:ln w="7620">
            <a:solidFill>
              <a:srgbClr val="293A46"/>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26720" y="1066800"/>
            <a:ext cx="10668000" cy="228600"/>
          </a:xfrm>
          <a:prstGeom prst="rect">
            <a:avLst/>
          </a:prstGeom>
          <a:noFill/>
        </p:spPr>
        <p:txBody>
          <a:bodyPr wrap="none" lIns="0" rIns="0" tIns="0" bIns="0">
            <a:spAutoFit/>
          </a:bodyPr>
          <a:lstStyle/>
          <a:p>
            <a:pPr>
              <a:lnSpc>
                <a:spcPct val="117000"/>
              </a:lnSpc>
              <a:spcBef>
                <a:spcPts val="0"/>
              </a:spcBef>
              <a:spcAft>
                <a:spcPts val="0"/>
              </a:spcAft>
            </a:pPr>
            <a:r>
              <a:rPr sz="1140" b="1">
                <a:solidFill>
                  <a:srgbClr val="65DEC0"/>
                </a:solidFill>
                <a:latin typeface="UnDotum"/>
              </a:rPr>
              <a:t>SELF-HEALING SECURITY SANDBOX</a:t>
            </a:r>
          </a:p>
        </p:txBody>
      </p:sp>
      <p:sp>
        <p:nvSpPr>
          <p:cNvPr id="12" name="TextBox 11"/>
          <p:cNvSpPr txBox="1"/>
          <p:nvPr/>
        </p:nvSpPr>
        <p:spPr>
          <a:xfrm>
            <a:off x="411480" y="1424940"/>
            <a:ext cx="11353800" cy="533400"/>
          </a:xfrm>
          <a:prstGeom prst="rect">
            <a:avLst/>
          </a:prstGeom>
          <a:noFill/>
        </p:spPr>
        <p:txBody>
          <a:bodyPr wrap="none" lIns="0" rIns="0" tIns="0" bIns="0">
            <a:spAutoFit/>
          </a:bodyPr>
          <a:lstStyle/>
          <a:p>
            <a:pPr>
              <a:lnSpc>
                <a:spcPct val="117000"/>
              </a:lnSpc>
              <a:spcBef>
                <a:spcPts val="0"/>
              </a:spcBef>
              <a:spcAft>
                <a:spcPts val="0"/>
              </a:spcAft>
            </a:pPr>
            <a:r>
              <a:rPr sz="2879" b="1">
                <a:solidFill>
                  <a:srgbClr val="EFF5F8"/>
                </a:solidFill>
                <a:latin typeface="UnDotum"/>
              </a:rPr>
              <a:t>AI가 속아도, 실행 환경은 복구되어야 합니다.</a:t>
            </a:r>
          </a:p>
        </p:txBody>
      </p:sp>
      <p:sp>
        <p:nvSpPr>
          <p:cNvPr id="13" name="TextBox 12"/>
          <p:cNvSpPr txBox="1"/>
          <p:nvPr/>
        </p:nvSpPr>
        <p:spPr>
          <a:xfrm>
            <a:off x="426720" y="2011680"/>
            <a:ext cx="11277600" cy="304800"/>
          </a:xfrm>
          <a:prstGeom prst="rect">
            <a:avLst/>
          </a:prstGeom>
          <a:noFill/>
        </p:spPr>
        <p:txBody>
          <a:bodyPr wrap="none" lIns="0" rIns="0" tIns="0" bIns="0">
            <a:spAutoFit/>
          </a:bodyPr>
          <a:lstStyle/>
          <a:p>
            <a:pPr>
              <a:lnSpc>
                <a:spcPct val="117000"/>
              </a:lnSpc>
              <a:spcBef>
                <a:spcPts val="0"/>
              </a:spcBef>
              <a:spcAft>
                <a:spcPts val="0"/>
              </a:spcAft>
            </a:pPr>
            <a:r>
              <a:rPr sz="1500" b="0">
                <a:solidFill>
                  <a:srgbClr val="9DB0BE"/>
                </a:solidFill>
                <a:latin typeface="UnDotum"/>
              </a:rPr>
              <a:t>공격을 관찰하고 → 정책을 자동 패치하고 → 실제 실행으로 방어를 검증합니다.</a:t>
            </a:r>
          </a:p>
        </p:txBody>
      </p:sp>
      <p:sp>
        <p:nvSpPr>
          <p:cNvPr id="14" name="TextBox 13"/>
          <p:cNvSpPr txBox="1"/>
          <p:nvPr/>
        </p:nvSpPr>
        <p:spPr>
          <a:xfrm>
            <a:off x="426720" y="2567940"/>
            <a:ext cx="3124200" cy="213360"/>
          </a:xfrm>
          <a:prstGeom prst="rect">
            <a:avLst/>
          </a:prstGeom>
          <a:noFill/>
        </p:spPr>
        <p:txBody>
          <a:bodyPr wrap="none" lIns="0" rIns="0" tIns="0" bIns="0">
            <a:spAutoFit/>
          </a:bodyPr>
          <a:lstStyle/>
          <a:p>
            <a:pPr>
              <a:lnSpc>
                <a:spcPct val="117000"/>
              </a:lnSpc>
              <a:spcBef>
                <a:spcPts val="0"/>
              </a:spcBef>
              <a:spcAft>
                <a:spcPts val="0"/>
              </a:spcAft>
            </a:pPr>
            <a:r>
              <a:rPr sz="1019" b="1">
                <a:solidFill>
                  <a:srgbClr val="65DEC0"/>
                </a:solidFill>
                <a:latin typeface="UnDotum"/>
              </a:rPr>
              <a:t>01  /  THE PROBLEM</a:t>
            </a:r>
          </a:p>
        </p:txBody>
      </p:sp>
      <p:sp>
        <p:nvSpPr>
          <p:cNvPr id="15" name="TextBox 14"/>
          <p:cNvSpPr txBox="1"/>
          <p:nvPr/>
        </p:nvSpPr>
        <p:spPr>
          <a:xfrm>
            <a:off x="426720" y="2948940"/>
            <a:ext cx="3390900" cy="701040"/>
          </a:xfrm>
          <a:prstGeom prst="rect">
            <a:avLst/>
          </a:prstGeom>
          <a:noFill/>
        </p:spPr>
        <p:txBody>
          <a:bodyPr wrap="none" lIns="0" rIns="0" tIns="0" bIns="0">
            <a:spAutoFit/>
          </a:bodyPr>
          <a:lstStyle/>
          <a:p>
            <a:pPr>
              <a:lnSpc>
                <a:spcPct val="117000"/>
              </a:lnSpc>
              <a:spcBef>
                <a:spcPts val="0"/>
              </a:spcBef>
              <a:spcAft>
                <a:spcPts val="0"/>
              </a:spcAft>
            </a:pPr>
            <a:r>
              <a:rPr sz="1980" b="1">
                <a:solidFill>
                  <a:srgbClr val="EFF5F8"/>
                </a:solidFill>
                <a:latin typeface="UnDotum"/>
              </a:rPr>
              <a:t>참고 문서가</a:t>
            </a:r>
          </a:p>
          <a:p>
            <a:pPr>
              <a:lnSpc>
                <a:spcPct val="117000"/>
              </a:lnSpc>
              <a:spcBef>
                <a:spcPts val="0"/>
              </a:spcBef>
              <a:spcAft>
                <a:spcPts val="0"/>
              </a:spcAft>
            </a:pPr>
            <a:r>
              <a:rPr sz="1980" b="1">
                <a:solidFill>
                  <a:srgbClr val="EFF5F8"/>
                </a:solidFill>
                <a:latin typeface="UnDotum"/>
              </a:rPr>
              <a:t>실행 지시로 바뀔 때.</a:t>
            </a:r>
          </a:p>
        </p:txBody>
      </p:sp>
      <p:sp>
        <p:nvSpPr>
          <p:cNvPr id="16" name="TextBox 15"/>
          <p:cNvSpPr txBox="1"/>
          <p:nvPr/>
        </p:nvSpPr>
        <p:spPr>
          <a:xfrm>
            <a:off x="426720" y="3810000"/>
            <a:ext cx="3276600" cy="647700"/>
          </a:xfrm>
          <a:prstGeom prst="rect">
            <a:avLst/>
          </a:prstGeom>
          <a:noFill/>
        </p:spPr>
        <p:txBody>
          <a:bodyPr wrap="none" lIns="0" rIns="0" tIns="0" bIns="0">
            <a:spAutoFit/>
          </a:bodyPr>
          <a:lstStyle/>
          <a:p>
            <a:pPr>
              <a:lnSpc>
                <a:spcPct val="117000"/>
              </a:lnSpc>
              <a:spcBef>
                <a:spcPts val="0"/>
              </a:spcBef>
              <a:spcAft>
                <a:spcPts val="0"/>
              </a:spcAft>
            </a:pPr>
            <a:r>
              <a:rPr sz="1140" b="0">
                <a:solidFill>
                  <a:srgbClr val="9DB0BE"/>
                </a:solidFill>
                <a:latin typeface="UnDotum"/>
              </a:rPr>
              <a:t>악성 README는 Agent의 행동과</a:t>
            </a:r>
          </a:p>
          <a:p>
            <a:pPr>
              <a:lnSpc>
                <a:spcPct val="117000"/>
              </a:lnSpc>
              <a:spcBef>
                <a:spcPts val="0"/>
              </a:spcBef>
              <a:spcAft>
                <a:spcPts val="0"/>
              </a:spcAft>
            </a:pPr>
            <a:r>
              <a:rPr sz="1140" b="0">
                <a:solidFill>
                  <a:srgbClr val="9DB0BE"/>
                </a:solidFill>
                <a:latin typeface="UnDotum"/>
              </a:rPr>
              <a:t>검증 범위를 왜곡할 수 있습니다.</a:t>
            </a:r>
          </a:p>
          <a:p>
            <a:pPr>
              <a:lnSpc>
                <a:spcPct val="117000"/>
              </a:lnSpc>
              <a:spcBef>
                <a:spcPts val="0"/>
              </a:spcBef>
              <a:spcAft>
                <a:spcPts val="0"/>
              </a:spcAft>
            </a:pPr>
            <a:r>
              <a:rPr sz="1140" b="0">
                <a:solidFill>
                  <a:srgbClr val="9DB0BE"/>
                </a:solidFill>
                <a:latin typeface="UnDotum"/>
              </a:rPr>
              <a:t>격리만으로 작업의 정확성은 보장되지 않습니다.</a:t>
            </a:r>
          </a:p>
        </p:txBody>
      </p:sp>
      <p:sp>
        <p:nvSpPr>
          <p:cNvPr id="17" name="Rounded Rectangle 16"/>
          <p:cNvSpPr/>
          <p:nvPr/>
        </p:nvSpPr>
        <p:spPr>
          <a:xfrm>
            <a:off x="3886200" y="2529840"/>
            <a:ext cx="7894320" cy="2026920"/>
          </a:xfrm>
          <a:prstGeom prst="roundRect">
            <a:avLst>
              <a:gd name="adj" fmla="val 8000"/>
            </a:avLst>
          </a:prstGeom>
          <a:solidFill>
            <a:srgbClr val="111C24"/>
          </a:solidFill>
          <a:ln w="8890">
            <a:solidFill>
              <a:srgbClr val="293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84320" y="2682240"/>
            <a:ext cx="5334000" cy="213360"/>
          </a:xfrm>
          <a:prstGeom prst="rect">
            <a:avLst/>
          </a:prstGeom>
          <a:noFill/>
        </p:spPr>
        <p:txBody>
          <a:bodyPr wrap="none" lIns="0" rIns="0" tIns="0" bIns="0">
            <a:spAutoFit/>
          </a:bodyPr>
          <a:lstStyle/>
          <a:p>
            <a:pPr>
              <a:lnSpc>
                <a:spcPct val="117000"/>
              </a:lnSpc>
              <a:spcBef>
                <a:spcPts val="0"/>
              </a:spcBef>
              <a:spcAft>
                <a:spcPts val="0"/>
              </a:spcAft>
            </a:pPr>
            <a:r>
              <a:rPr sz="1019" b="1">
                <a:solidFill>
                  <a:srgbClr val="65DEC0"/>
                </a:solidFill>
                <a:latin typeface="UnDotum"/>
              </a:rPr>
              <a:t>02  /  TWO AGENTS. ONE VERIFIED CONTROL LOOP.</a:t>
            </a:r>
          </a:p>
        </p:txBody>
      </p:sp>
      <p:sp>
        <p:nvSpPr>
          <p:cNvPr id="19" name="Rounded Rectangle 18"/>
          <p:cNvSpPr/>
          <p:nvPr/>
        </p:nvSpPr>
        <p:spPr>
          <a:xfrm>
            <a:off x="4114800" y="3078480"/>
            <a:ext cx="2133600" cy="594360"/>
          </a:xfrm>
          <a:prstGeom prst="roundRect">
            <a:avLst>
              <a:gd name="adj" fmla="val 8000"/>
            </a:avLst>
          </a:prstGeom>
          <a:solidFill>
            <a:srgbClr val="16232D"/>
          </a:solidFill>
          <a:ln w="8890">
            <a:solidFill>
              <a:srgbClr val="293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44340" y="3162300"/>
            <a:ext cx="1905000" cy="213360"/>
          </a:xfrm>
          <a:prstGeom prst="rect">
            <a:avLst/>
          </a:prstGeom>
          <a:noFill/>
        </p:spPr>
        <p:txBody>
          <a:bodyPr wrap="none" lIns="0" rIns="0" tIns="0" bIns="0">
            <a:spAutoFit/>
          </a:bodyPr>
          <a:lstStyle/>
          <a:p>
            <a:pPr>
              <a:lnSpc>
                <a:spcPct val="117000"/>
              </a:lnSpc>
              <a:spcBef>
                <a:spcPts val="0"/>
              </a:spcBef>
              <a:spcAft>
                <a:spcPts val="0"/>
              </a:spcAft>
            </a:pPr>
            <a:r>
              <a:rPr sz="1380" b="1">
                <a:solidFill>
                  <a:srgbClr val="8DAFEA"/>
                </a:solidFill>
                <a:latin typeface="UnDotum"/>
              </a:rPr>
              <a:t>Worker Agent</a:t>
            </a:r>
          </a:p>
        </p:txBody>
      </p:sp>
      <p:sp>
        <p:nvSpPr>
          <p:cNvPr id="21" name="TextBox 20"/>
          <p:cNvSpPr txBox="1"/>
          <p:nvPr/>
        </p:nvSpPr>
        <p:spPr>
          <a:xfrm>
            <a:off x="4244340" y="3429000"/>
            <a:ext cx="1905000" cy="167640"/>
          </a:xfrm>
          <a:prstGeom prst="rect">
            <a:avLst/>
          </a:prstGeom>
          <a:noFill/>
        </p:spPr>
        <p:txBody>
          <a:bodyPr wrap="none" lIns="0" rIns="0" tIns="0" bIns="0">
            <a:spAutoFit/>
          </a:bodyPr>
          <a:lstStyle/>
          <a:p>
            <a:pPr>
              <a:lnSpc>
                <a:spcPct val="117000"/>
              </a:lnSpc>
              <a:spcBef>
                <a:spcPts val="0"/>
              </a:spcBef>
              <a:spcAft>
                <a:spcPts val="0"/>
              </a:spcAft>
            </a:pPr>
            <a:r>
              <a:rPr sz="1019" b="0">
                <a:solidFill>
                  <a:srgbClr val="9DB0BE"/>
                </a:solidFill>
                <a:latin typeface="UnDotum"/>
              </a:rPr>
              <a:t>NOSANA · 작업 추론</a:t>
            </a:r>
          </a:p>
        </p:txBody>
      </p:sp>
      <p:sp>
        <p:nvSpPr>
          <p:cNvPr id="22" name="Rounded Rectangle 21"/>
          <p:cNvSpPr/>
          <p:nvPr/>
        </p:nvSpPr>
        <p:spPr>
          <a:xfrm>
            <a:off x="6629400" y="3078480"/>
            <a:ext cx="2133600" cy="594360"/>
          </a:xfrm>
          <a:prstGeom prst="roundRect">
            <a:avLst>
              <a:gd name="adj" fmla="val 8000"/>
            </a:avLst>
          </a:prstGeom>
          <a:solidFill>
            <a:srgbClr val="16232D"/>
          </a:solidFill>
          <a:ln w="8890">
            <a:solidFill>
              <a:srgbClr val="293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58940" y="3162300"/>
            <a:ext cx="1905000" cy="213360"/>
          </a:xfrm>
          <a:prstGeom prst="rect">
            <a:avLst/>
          </a:prstGeom>
          <a:noFill/>
        </p:spPr>
        <p:txBody>
          <a:bodyPr wrap="none" lIns="0" rIns="0" tIns="0" bIns="0">
            <a:spAutoFit/>
          </a:bodyPr>
          <a:lstStyle/>
          <a:p>
            <a:pPr>
              <a:lnSpc>
                <a:spcPct val="117000"/>
              </a:lnSpc>
              <a:spcBef>
                <a:spcPts val="0"/>
              </a:spcBef>
              <a:spcAft>
                <a:spcPts val="0"/>
              </a:spcAft>
            </a:pPr>
            <a:r>
              <a:rPr sz="1380" b="1">
                <a:solidFill>
                  <a:srgbClr val="65DEC0"/>
                </a:solidFill>
                <a:latin typeface="UnDotum"/>
              </a:rPr>
              <a:t>Security Gateway</a:t>
            </a:r>
          </a:p>
        </p:txBody>
      </p:sp>
      <p:sp>
        <p:nvSpPr>
          <p:cNvPr id="24" name="TextBox 23"/>
          <p:cNvSpPr txBox="1"/>
          <p:nvPr/>
        </p:nvSpPr>
        <p:spPr>
          <a:xfrm>
            <a:off x="6758940" y="3429000"/>
            <a:ext cx="1905000" cy="167640"/>
          </a:xfrm>
          <a:prstGeom prst="rect">
            <a:avLst/>
          </a:prstGeom>
          <a:noFill/>
        </p:spPr>
        <p:txBody>
          <a:bodyPr wrap="none" lIns="0" rIns="0" tIns="0" bIns="0">
            <a:spAutoFit/>
          </a:bodyPr>
          <a:lstStyle/>
          <a:p>
            <a:pPr>
              <a:lnSpc>
                <a:spcPct val="117000"/>
              </a:lnSpc>
              <a:spcBef>
                <a:spcPts val="0"/>
              </a:spcBef>
              <a:spcAft>
                <a:spcPts val="0"/>
              </a:spcAft>
            </a:pPr>
            <a:r>
              <a:rPr sz="1019" b="0">
                <a:solidFill>
                  <a:srgbClr val="9DB0BE"/>
                </a:solidFill>
                <a:latin typeface="UnDotum"/>
              </a:rPr>
              <a:t>도구 요청 · 정책 적용</a:t>
            </a:r>
          </a:p>
        </p:txBody>
      </p:sp>
      <p:sp>
        <p:nvSpPr>
          <p:cNvPr id="25" name="Rounded Rectangle 24"/>
          <p:cNvSpPr/>
          <p:nvPr/>
        </p:nvSpPr>
        <p:spPr>
          <a:xfrm>
            <a:off x="9144000" y="3078480"/>
            <a:ext cx="2133600" cy="594360"/>
          </a:xfrm>
          <a:prstGeom prst="roundRect">
            <a:avLst>
              <a:gd name="adj" fmla="val 8000"/>
            </a:avLst>
          </a:prstGeom>
          <a:solidFill>
            <a:srgbClr val="16232D"/>
          </a:solidFill>
          <a:ln w="8890">
            <a:solidFill>
              <a:srgbClr val="293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73540" y="3162300"/>
            <a:ext cx="1905000" cy="213360"/>
          </a:xfrm>
          <a:prstGeom prst="rect">
            <a:avLst/>
          </a:prstGeom>
          <a:noFill/>
        </p:spPr>
        <p:txBody>
          <a:bodyPr wrap="none" lIns="0" rIns="0" tIns="0" bIns="0">
            <a:spAutoFit/>
          </a:bodyPr>
          <a:lstStyle/>
          <a:p>
            <a:pPr>
              <a:lnSpc>
                <a:spcPct val="117000"/>
              </a:lnSpc>
              <a:spcBef>
                <a:spcPts val="0"/>
              </a:spcBef>
              <a:spcAft>
                <a:spcPts val="0"/>
              </a:spcAft>
            </a:pPr>
            <a:r>
              <a:rPr sz="1380" b="1">
                <a:solidFill>
                  <a:srgbClr val="B6ADF1"/>
                </a:solidFill>
                <a:latin typeface="UnDotum"/>
              </a:rPr>
              <a:t>Daytona Sandbox</a:t>
            </a:r>
          </a:p>
        </p:txBody>
      </p:sp>
      <p:sp>
        <p:nvSpPr>
          <p:cNvPr id="27" name="TextBox 26"/>
          <p:cNvSpPr txBox="1"/>
          <p:nvPr/>
        </p:nvSpPr>
        <p:spPr>
          <a:xfrm>
            <a:off x="9273540" y="3429000"/>
            <a:ext cx="1905000" cy="167640"/>
          </a:xfrm>
          <a:prstGeom prst="rect">
            <a:avLst/>
          </a:prstGeom>
          <a:noFill/>
        </p:spPr>
        <p:txBody>
          <a:bodyPr wrap="none" lIns="0" rIns="0" tIns="0" bIns="0">
            <a:spAutoFit/>
          </a:bodyPr>
          <a:lstStyle/>
          <a:p>
            <a:pPr>
              <a:lnSpc>
                <a:spcPct val="117000"/>
              </a:lnSpc>
              <a:spcBef>
                <a:spcPts val="0"/>
              </a:spcBef>
              <a:spcAft>
                <a:spcPts val="0"/>
              </a:spcAft>
            </a:pPr>
            <a:r>
              <a:rPr sz="1019" b="0">
                <a:solidFill>
                  <a:srgbClr val="9DB0BE"/>
                </a:solidFill>
                <a:latin typeface="UnDotum"/>
              </a:rPr>
              <a:t>격리된 실제 코드 실행</a:t>
            </a:r>
          </a:p>
        </p:txBody>
      </p:sp>
      <p:sp>
        <p:nvSpPr>
          <p:cNvPr id="28" name="TextBox 27"/>
          <p:cNvSpPr txBox="1"/>
          <p:nvPr/>
        </p:nvSpPr>
        <p:spPr>
          <a:xfrm>
            <a:off x="6324600" y="3208020"/>
            <a:ext cx="266700" cy="304800"/>
          </a:xfrm>
          <a:prstGeom prst="rect">
            <a:avLst/>
          </a:prstGeom>
          <a:noFill/>
        </p:spPr>
        <p:txBody>
          <a:bodyPr wrap="none" lIns="0" rIns="0" tIns="0" bIns="0">
            <a:spAutoFit/>
          </a:bodyPr>
          <a:lstStyle/>
          <a:p>
            <a:pPr>
              <a:lnSpc>
                <a:spcPct val="117000"/>
              </a:lnSpc>
              <a:spcBef>
                <a:spcPts val="0"/>
              </a:spcBef>
              <a:spcAft>
                <a:spcPts val="0"/>
              </a:spcAft>
            </a:pPr>
            <a:r>
              <a:rPr sz="1800" b="0">
                <a:solidFill>
                  <a:srgbClr val="9DB0BE"/>
                </a:solidFill>
                <a:latin typeface="UnDotum"/>
              </a:rPr>
              <a:t>→</a:t>
            </a:r>
          </a:p>
        </p:txBody>
      </p:sp>
      <p:sp>
        <p:nvSpPr>
          <p:cNvPr id="29" name="TextBox 28"/>
          <p:cNvSpPr txBox="1"/>
          <p:nvPr/>
        </p:nvSpPr>
        <p:spPr>
          <a:xfrm>
            <a:off x="8839200" y="3208020"/>
            <a:ext cx="266700" cy="304800"/>
          </a:xfrm>
          <a:prstGeom prst="rect">
            <a:avLst/>
          </a:prstGeom>
          <a:noFill/>
        </p:spPr>
        <p:txBody>
          <a:bodyPr wrap="none" lIns="0" rIns="0" tIns="0" bIns="0">
            <a:spAutoFit/>
          </a:bodyPr>
          <a:lstStyle/>
          <a:p>
            <a:pPr>
              <a:lnSpc>
                <a:spcPct val="117000"/>
              </a:lnSpc>
              <a:spcBef>
                <a:spcPts val="0"/>
              </a:spcBef>
              <a:spcAft>
                <a:spcPts val="0"/>
              </a:spcAft>
            </a:pPr>
            <a:r>
              <a:rPr sz="1800" b="0">
                <a:solidFill>
                  <a:srgbClr val="9DB0BE"/>
                </a:solidFill>
                <a:latin typeface="UnDotum"/>
              </a:rPr>
              <a:t>→</a:t>
            </a:r>
          </a:p>
        </p:txBody>
      </p:sp>
      <p:cxnSp>
        <p:nvCxnSpPr>
          <p:cNvPr id="30" name="Connector 29"/>
          <p:cNvCxnSpPr/>
          <p:nvPr/>
        </p:nvCxnSpPr>
        <p:spPr>
          <a:xfrm>
            <a:off x="10195560" y="3710940"/>
            <a:ext cx="0" cy="403860"/>
          </a:xfrm>
          <a:prstGeom prst="line">
            <a:avLst/>
          </a:prstGeom>
          <a:ln w="15240">
            <a:solidFill>
              <a:srgbClr val="65DEC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8915400" y="4114800"/>
            <a:ext cx="1280160" cy="0"/>
          </a:xfrm>
          <a:prstGeom prst="line">
            <a:avLst/>
          </a:prstGeom>
          <a:ln w="15240">
            <a:solidFill>
              <a:srgbClr val="65DEC0"/>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6553200" y="3893820"/>
            <a:ext cx="2362200" cy="457200"/>
          </a:xfrm>
          <a:prstGeom prst="roundRect">
            <a:avLst>
              <a:gd name="adj" fmla="val 8000"/>
            </a:avLst>
          </a:prstGeom>
          <a:solidFill>
            <a:srgbClr val="18342E"/>
          </a:solidFill>
          <a:ln w="8890">
            <a:solidFill>
              <a:srgbClr val="315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05600" y="3985260"/>
            <a:ext cx="2133600" cy="205740"/>
          </a:xfrm>
          <a:prstGeom prst="rect">
            <a:avLst/>
          </a:prstGeom>
          <a:noFill/>
        </p:spPr>
        <p:txBody>
          <a:bodyPr wrap="none" lIns="0" rIns="0" tIns="0" bIns="0">
            <a:spAutoFit/>
          </a:bodyPr>
          <a:lstStyle/>
          <a:p>
            <a:pPr>
              <a:lnSpc>
                <a:spcPct val="117000"/>
              </a:lnSpc>
              <a:spcBef>
                <a:spcPts val="0"/>
              </a:spcBef>
              <a:spcAft>
                <a:spcPts val="0"/>
              </a:spcAft>
            </a:pPr>
            <a:r>
              <a:rPr sz="1260" b="1">
                <a:solidFill>
                  <a:srgbClr val="65DEC0"/>
                </a:solidFill>
                <a:latin typeface="UnDotum"/>
              </a:rPr>
              <a:t>Security Agent · NOSANA</a:t>
            </a:r>
          </a:p>
        </p:txBody>
      </p:sp>
      <p:cxnSp>
        <p:nvCxnSpPr>
          <p:cNvPr id="34" name="Connector 33"/>
          <p:cNvCxnSpPr/>
          <p:nvPr/>
        </p:nvCxnSpPr>
        <p:spPr>
          <a:xfrm flipV="1">
            <a:off x="7696199" y="3695700"/>
            <a:ext cx="0" cy="152399"/>
          </a:xfrm>
          <a:prstGeom prst="line">
            <a:avLst/>
          </a:prstGeom>
          <a:ln w="15240">
            <a:solidFill>
              <a:srgbClr val="65DEC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7780020" y="3688080"/>
            <a:ext cx="1447800" cy="190500"/>
          </a:xfrm>
          <a:prstGeom prst="rect">
            <a:avLst/>
          </a:prstGeom>
          <a:noFill/>
        </p:spPr>
        <p:txBody>
          <a:bodyPr wrap="none" lIns="0" rIns="0" tIns="0" bIns="0">
            <a:spAutoFit/>
          </a:bodyPr>
          <a:lstStyle/>
          <a:p>
            <a:pPr>
              <a:lnSpc>
                <a:spcPct val="117000"/>
              </a:lnSpc>
              <a:spcBef>
                <a:spcPts val="0"/>
              </a:spcBef>
              <a:spcAft>
                <a:spcPts val="0"/>
              </a:spcAft>
            </a:pPr>
            <a:r>
              <a:rPr sz="900" b="0">
                <a:solidFill>
                  <a:srgbClr val="65DEC0"/>
                </a:solidFill>
                <a:latin typeface="UnDotum"/>
              </a:rPr>
              <a:t>↑ 정책 패치</a:t>
            </a:r>
          </a:p>
        </p:txBody>
      </p:sp>
      <p:sp>
        <p:nvSpPr>
          <p:cNvPr id="36" name="TextBox 35"/>
          <p:cNvSpPr txBox="1"/>
          <p:nvPr/>
        </p:nvSpPr>
        <p:spPr>
          <a:xfrm>
            <a:off x="4175760" y="3947160"/>
            <a:ext cx="2209800" cy="426720"/>
          </a:xfrm>
          <a:prstGeom prst="rect">
            <a:avLst/>
          </a:prstGeom>
          <a:noFill/>
        </p:spPr>
        <p:txBody>
          <a:bodyPr wrap="none" lIns="0" rIns="0" tIns="0" bIns="0">
            <a:spAutoFit/>
          </a:bodyPr>
          <a:lstStyle/>
          <a:p>
            <a:pPr>
              <a:lnSpc>
                <a:spcPct val="117000"/>
              </a:lnSpc>
              <a:spcBef>
                <a:spcPts val="0"/>
              </a:spcBef>
              <a:spcAft>
                <a:spcPts val="0"/>
              </a:spcAft>
            </a:pPr>
            <a:r>
              <a:rPr sz="1019" b="0">
                <a:solidFill>
                  <a:srgbClr val="9DB0BE"/>
                </a:solidFill>
                <a:latin typeface="UnDotum"/>
              </a:rPr>
              <a:t>실행 증거 분석 → 패치 제안</a:t>
            </a:r>
          </a:p>
          <a:p>
            <a:pPr>
              <a:lnSpc>
                <a:spcPct val="117000"/>
              </a:lnSpc>
              <a:spcBef>
                <a:spcPts val="0"/>
              </a:spcBef>
              <a:spcAft>
                <a:spcPts val="0"/>
              </a:spcAft>
            </a:pPr>
            <a:r>
              <a:rPr sz="1019" b="0">
                <a:solidFill>
                  <a:srgbClr val="9DB0BE"/>
                </a:solidFill>
                <a:latin typeface="UnDotum"/>
              </a:rPr>
              <a:t>제어 영역에서 검증·적용</a:t>
            </a:r>
          </a:p>
        </p:txBody>
      </p:sp>
      <p:sp>
        <p:nvSpPr>
          <p:cNvPr id="37" name="Rounded Rectangle 36"/>
          <p:cNvSpPr/>
          <p:nvPr/>
        </p:nvSpPr>
        <p:spPr>
          <a:xfrm>
            <a:off x="411480" y="4754880"/>
            <a:ext cx="6995160" cy="1417320"/>
          </a:xfrm>
          <a:prstGeom prst="roundRect">
            <a:avLst>
              <a:gd name="adj" fmla="val 8000"/>
            </a:avLst>
          </a:prstGeom>
          <a:solidFill>
            <a:srgbClr val="111C24"/>
          </a:solidFill>
          <a:ln w="8890">
            <a:solidFill>
              <a:srgbClr val="293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94360" y="4907280"/>
            <a:ext cx="6553200" cy="213360"/>
          </a:xfrm>
          <a:prstGeom prst="rect">
            <a:avLst/>
          </a:prstGeom>
          <a:noFill/>
        </p:spPr>
        <p:txBody>
          <a:bodyPr wrap="none" lIns="0" rIns="0" tIns="0" bIns="0">
            <a:spAutoFit/>
          </a:bodyPr>
          <a:lstStyle/>
          <a:p>
            <a:pPr>
              <a:lnSpc>
                <a:spcPct val="117000"/>
              </a:lnSpc>
              <a:spcBef>
                <a:spcPts val="0"/>
              </a:spcBef>
              <a:spcAft>
                <a:spcPts val="0"/>
              </a:spcAft>
            </a:pPr>
            <a:r>
              <a:rPr sz="1019" b="1">
                <a:solidFill>
                  <a:srgbClr val="65DEC0"/>
                </a:solidFill>
                <a:latin typeface="UnDotum"/>
              </a:rPr>
              <a:t>03  /  DEMO — TEST RESULT LAUNDERING</a:t>
            </a:r>
          </a:p>
        </p:txBody>
      </p:sp>
      <p:sp>
        <p:nvSpPr>
          <p:cNvPr id="39" name="TextBox 38"/>
          <p:cNvSpPr txBox="1"/>
          <p:nvPr/>
        </p:nvSpPr>
        <p:spPr>
          <a:xfrm>
            <a:off x="594360" y="5257800"/>
            <a:ext cx="2628900" cy="472440"/>
          </a:xfrm>
          <a:prstGeom prst="rect">
            <a:avLst/>
          </a:prstGeom>
          <a:noFill/>
        </p:spPr>
        <p:txBody>
          <a:bodyPr wrap="none" lIns="0" rIns="0" tIns="0" bIns="0">
            <a:spAutoFit/>
          </a:bodyPr>
          <a:lstStyle/>
          <a:p>
            <a:pPr>
              <a:lnSpc>
                <a:spcPct val="117000"/>
              </a:lnSpc>
              <a:spcBef>
                <a:spcPts val="0"/>
              </a:spcBef>
              <a:spcAft>
                <a:spcPts val="0"/>
              </a:spcAft>
            </a:pPr>
            <a:r>
              <a:rPr sz="1439" b="1">
                <a:solidFill>
                  <a:srgbClr val="E8BA77"/>
                </a:solidFill>
                <a:latin typeface="UnDotum"/>
              </a:rPr>
              <a:t>2개만 실행 → ‘전체 성공’ 보고</a:t>
            </a:r>
          </a:p>
        </p:txBody>
      </p:sp>
      <p:sp>
        <p:nvSpPr>
          <p:cNvPr id="40" name="TextBox 39"/>
          <p:cNvSpPr txBox="1"/>
          <p:nvPr/>
        </p:nvSpPr>
        <p:spPr>
          <a:xfrm>
            <a:off x="3528060" y="5257800"/>
            <a:ext cx="495299" cy="304800"/>
          </a:xfrm>
          <a:prstGeom prst="rect">
            <a:avLst/>
          </a:prstGeom>
          <a:noFill/>
        </p:spPr>
        <p:txBody>
          <a:bodyPr wrap="none" lIns="0" rIns="0" tIns="0" bIns="0">
            <a:spAutoFit/>
          </a:bodyPr>
          <a:lstStyle/>
          <a:p>
            <a:pPr>
              <a:lnSpc>
                <a:spcPct val="117000"/>
              </a:lnSpc>
              <a:spcBef>
                <a:spcPts val="0"/>
              </a:spcBef>
              <a:spcAft>
                <a:spcPts val="0"/>
              </a:spcAft>
            </a:pPr>
            <a:r>
              <a:rPr sz="2039" b="0">
                <a:solidFill>
                  <a:srgbClr val="65DEC0"/>
                </a:solidFill>
                <a:latin typeface="UnDotum"/>
              </a:rPr>
              <a:t>→</a:t>
            </a:r>
          </a:p>
        </p:txBody>
      </p:sp>
      <p:sp>
        <p:nvSpPr>
          <p:cNvPr id="41" name="TextBox 40"/>
          <p:cNvSpPr txBox="1"/>
          <p:nvPr/>
        </p:nvSpPr>
        <p:spPr>
          <a:xfrm>
            <a:off x="4175760" y="5257800"/>
            <a:ext cx="3009900" cy="472440"/>
          </a:xfrm>
          <a:prstGeom prst="rect">
            <a:avLst/>
          </a:prstGeom>
          <a:noFill/>
        </p:spPr>
        <p:txBody>
          <a:bodyPr wrap="none" lIns="0" rIns="0" tIns="0" bIns="0">
            <a:spAutoFit/>
          </a:bodyPr>
          <a:lstStyle/>
          <a:p>
            <a:pPr>
              <a:lnSpc>
                <a:spcPct val="117000"/>
              </a:lnSpc>
              <a:spcBef>
                <a:spcPts val="0"/>
              </a:spcBef>
              <a:spcAft>
                <a:spcPts val="0"/>
              </a:spcAft>
            </a:pPr>
            <a:r>
              <a:rPr sz="1439" b="1">
                <a:solidFill>
                  <a:srgbClr val="65DEC0"/>
                </a:solidFill>
                <a:latin typeface="UnDotum"/>
              </a:rPr>
              <a:t>3개 전체 실행 → 실패 1개 보고</a:t>
            </a:r>
          </a:p>
        </p:txBody>
      </p:sp>
      <p:sp>
        <p:nvSpPr>
          <p:cNvPr id="42" name="TextBox 41"/>
          <p:cNvSpPr txBox="1"/>
          <p:nvPr/>
        </p:nvSpPr>
        <p:spPr>
          <a:xfrm>
            <a:off x="609600" y="5775960"/>
            <a:ext cx="6477000" cy="228600"/>
          </a:xfrm>
          <a:prstGeom prst="rect">
            <a:avLst/>
          </a:prstGeom>
          <a:noFill/>
        </p:spPr>
        <p:txBody>
          <a:bodyPr wrap="none" lIns="0" rIns="0" tIns="0" bIns="0">
            <a:spAutoFit/>
          </a:bodyPr>
          <a:lstStyle/>
          <a:p>
            <a:pPr>
              <a:lnSpc>
                <a:spcPct val="117000"/>
              </a:lnSpc>
              <a:spcBef>
                <a:spcPts val="0"/>
              </a:spcBef>
              <a:spcAft>
                <a:spcPts val="0"/>
              </a:spcAft>
            </a:pPr>
            <a:r>
              <a:rPr sz="1140" b="0">
                <a:solidFill>
                  <a:srgbClr val="9DB0BE"/>
                </a:solidFill>
                <a:latin typeface="UnDotum"/>
              </a:rPr>
              <a:t>복구의 목표: 실패를 숨기는 대신, 실제 테스트 결과를 정확히 드러내기.</a:t>
            </a:r>
          </a:p>
        </p:txBody>
      </p:sp>
      <p:sp>
        <p:nvSpPr>
          <p:cNvPr id="43" name="Rounded Rectangle 42"/>
          <p:cNvSpPr/>
          <p:nvPr/>
        </p:nvSpPr>
        <p:spPr>
          <a:xfrm>
            <a:off x="7581899" y="4754880"/>
            <a:ext cx="4198620" cy="1417320"/>
          </a:xfrm>
          <a:prstGeom prst="roundRect">
            <a:avLst>
              <a:gd name="adj" fmla="val 8000"/>
            </a:avLst>
          </a:prstGeom>
          <a:solidFill>
            <a:srgbClr val="111C24"/>
          </a:solidFill>
          <a:ln w="8890">
            <a:solidFill>
              <a:srgbClr val="293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72400" y="4907280"/>
            <a:ext cx="3657600" cy="213360"/>
          </a:xfrm>
          <a:prstGeom prst="rect">
            <a:avLst/>
          </a:prstGeom>
          <a:noFill/>
        </p:spPr>
        <p:txBody>
          <a:bodyPr wrap="none" lIns="0" rIns="0" tIns="0" bIns="0">
            <a:spAutoFit/>
          </a:bodyPr>
          <a:lstStyle/>
          <a:p>
            <a:pPr>
              <a:lnSpc>
                <a:spcPct val="117000"/>
              </a:lnSpc>
              <a:spcBef>
                <a:spcPts val="0"/>
              </a:spcBef>
              <a:spcAft>
                <a:spcPts val="0"/>
              </a:spcAft>
            </a:pPr>
            <a:r>
              <a:rPr sz="1019" b="1">
                <a:solidFill>
                  <a:srgbClr val="65DEC0"/>
                </a:solidFill>
                <a:latin typeface="UnDotum"/>
              </a:rPr>
              <a:t>BUILT &amp; VERIFIED</a:t>
            </a:r>
          </a:p>
        </p:txBody>
      </p:sp>
      <p:sp>
        <p:nvSpPr>
          <p:cNvPr id="45" name="TextBox 44"/>
          <p:cNvSpPr txBox="1"/>
          <p:nvPr/>
        </p:nvSpPr>
        <p:spPr>
          <a:xfrm>
            <a:off x="7772400" y="5196840"/>
            <a:ext cx="762000" cy="426720"/>
          </a:xfrm>
          <a:prstGeom prst="rect">
            <a:avLst/>
          </a:prstGeom>
          <a:noFill/>
        </p:spPr>
        <p:txBody>
          <a:bodyPr wrap="none" lIns="0" rIns="0" tIns="0" bIns="0">
            <a:spAutoFit/>
          </a:bodyPr>
          <a:lstStyle/>
          <a:p>
            <a:pPr>
              <a:lnSpc>
                <a:spcPct val="117000"/>
              </a:lnSpc>
              <a:spcBef>
                <a:spcPts val="0"/>
              </a:spcBef>
              <a:spcAft>
                <a:spcPts val="0"/>
              </a:spcAft>
            </a:pPr>
            <a:r>
              <a:rPr sz="2760" b="1">
                <a:solidFill>
                  <a:srgbClr val="EFF5F8"/>
                </a:solidFill>
                <a:latin typeface="UnDotum"/>
              </a:rPr>
              <a:t>39</a:t>
            </a:r>
          </a:p>
        </p:txBody>
      </p:sp>
      <p:sp>
        <p:nvSpPr>
          <p:cNvPr id="46" name="TextBox 45"/>
          <p:cNvSpPr txBox="1"/>
          <p:nvPr/>
        </p:nvSpPr>
        <p:spPr>
          <a:xfrm>
            <a:off x="8610600" y="5387340"/>
            <a:ext cx="990599" cy="213360"/>
          </a:xfrm>
          <a:prstGeom prst="rect">
            <a:avLst/>
          </a:prstGeom>
          <a:noFill/>
        </p:spPr>
        <p:txBody>
          <a:bodyPr wrap="none" lIns="0" rIns="0" tIns="0" bIns="0">
            <a:spAutoFit/>
          </a:bodyPr>
          <a:lstStyle/>
          <a:p>
            <a:pPr>
              <a:lnSpc>
                <a:spcPct val="117000"/>
              </a:lnSpc>
              <a:spcBef>
                <a:spcPts val="0"/>
              </a:spcBef>
              <a:spcAft>
                <a:spcPts val="0"/>
              </a:spcAft>
            </a:pPr>
            <a:r>
              <a:rPr sz="1080" b="0">
                <a:solidFill>
                  <a:srgbClr val="9DB0BE"/>
                </a:solidFill>
                <a:latin typeface="UnDotum"/>
              </a:rPr>
              <a:t>백엔드 테스트</a:t>
            </a:r>
          </a:p>
        </p:txBody>
      </p:sp>
      <p:sp>
        <p:nvSpPr>
          <p:cNvPr id="47" name="TextBox 46"/>
          <p:cNvSpPr txBox="1"/>
          <p:nvPr/>
        </p:nvSpPr>
        <p:spPr>
          <a:xfrm>
            <a:off x="9753600" y="5196840"/>
            <a:ext cx="495299" cy="426720"/>
          </a:xfrm>
          <a:prstGeom prst="rect">
            <a:avLst/>
          </a:prstGeom>
          <a:noFill/>
        </p:spPr>
        <p:txBody>
          <a:bodyPr wrap="none" lIns="0" rIns="0" tIns="0" bIns="0">
            <a:spAutoFit/>
          </a:bodyPr>
          <a:lstStyle/>
          <a:p>
            <a:pPr>
              <a:lnSpc>
                <a:spcPct val="117000"/>
              </a:lnSpc>
              <a:spcBef>
                <a:spcPts val="0"/>
              </a:spcBef>
              <a:spcAft>
                <a:spcPts val="0"/>
              </a:spcAft>
            </a:pPr>
            <a:r>
              <a:rPr sz="2760" b="1">
                <a:solidFill>
                  <a:srgbClr val="EFF5F8"/>
                </a:solidFill>
                <a:latin typeface="UnDotum"/>
              </a:rPr>
              <a:t>4</a:t>
            </a:r>
          </a:p>
        </p:txBody>
      </p:sp>
      <p:sp>
        <p:nvSpPr>
          <p:cNvPr id="48" name="TextBox 47"/>
          <p:cNvSpPr txBox="1"/>
          <p:nvPr/>
        </p:nvSpPr>
        <p:spPr>
          <a:xfrm>
            <a:off x="10325100" y="5387340"/>
            <a:ext cx="1295400" cy="213360"/>
          </a:xfrm>
          <a:prstGeom prst="rect">
            <a:avLst/>
          </a:prstGeom>
          <a:noFill/>
        </p:spPr>
        <p:txBody>
          <a:bodyPr wrap="none" lIns="0" rIns="0" tIns="0" bIns="0">
            <a:spAutoFit/>
          </a:bodyPr>
          <a:lstStyle/>
          <a:p>
            <a:pPr>
              <a:lnSpc>
                <a:spcPct val="117000"/>
              </a:lnSpc>
              <a:spcBef>
                <a:spcPts val="0"/>
              </a:spcBef>
              <a:spcAft>
                <a:spcPts val="0"/>
              </a:spcAft>
            </a:pPr>
            <a:r>
              <a:rPr sz="1080" b="0">
                <a:solidFill>
                  <a:srgbClr val="9DB0BE"/>
                </a:solidFill>
                <a:latin typeface="UnDotum"/>
              </a:rPr>
              <a:t>브라우저 테스트</a:t>
            </a:r>
          </a:p>
        </p:txBody>
      </p:sp>
      <p:sp>
        <p:nvSpPr>
          <p:cNvPr id="49" name="TextBox 48"/>
          <p:cNvSpPr txBox="1"/>
          <p:nvPr/>
        </p:nvSpPr>
        <p:spPr>
          <a:xfrm>
            <a:off x="7772400" y="5753100"/>
            <a:ext cx="3810000" cy="304800"/>
          </a:xfrm>
          <a:prstGeom prst="rect">
            <a:avLst/>
          </a:prstGeom>
          <a:noFill/>
        </p:spPr>
        <p:txBody>
          <a:bodyPr wrap="none" lIns="0" rIns="0" tIns="0" bIns="0">
            <a:spAutoFit/>
          </a:bodyPr>
          <a:lstStyle/>
          <a:p>
            <a:pPr>
              <a:lnSpc>
                <a:spcPct val="117000"/>
              </a:lnSpc>
              <a:spcBef>
                <a:spcPts val="0"/>
              </a:spcBef>
              <a:spcAft>
                <a:spcPts val="0"/>
              </a:spcAft>
            </a:pPr>
            <a:r>
              <a:rPr sz="1080" b="0">
                <a:solidFill>
                  <a:srgbClr val="9DB0BE"/>
                </a:solidFill>
                <a:latin typeface="UnDotum"/>
              </a:rPr>
              <a:t>실제 Daytona에서 정책 차단·전체 검증 확인</a:t>
            </a:r>
          </a:p>
        </p:txBody>
      </p:sp>
      <p:cxnSp>
        <p:nvCxnSpPr>
          <p:cNvPr id="50" name="Connector 49"/>
          <p:cNvCxnSpPr/>
          <p:nvPr/>
        </p:nvCxnSpPr>
        <p:spPr>
          <a:xfrm>
            <a:off x="411480" y="6385560"/>
            <a:ext cx="11369040" cy="0"/>
          </a:xfrm>
          <a:prstGeom prst="line">
            <a:avLst/>
          </a:prstGeom>
          <a:ln w="7620">
            <a:solidFill>
              <a:srgbClr val="293A46"/>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426720" y="6507480"/>
            <a:ext cx="6858000" cy="213360"/>
          </a:xfrm>
          <a:prstGeom prst="rect">
            <a:avLst/>
          </a:prstGeom>
          <a:noFill/>
        </p:spPr>
        <p:txBody>
          <a:bodyPr wrap="none" lIns="0" rIns="0" tIns="0" bIns="0">
            <a:spAutoFit/>
          </a:bodyPr>
          <a:lstStyle/>
          <a:p>
            <a:pPr>
              <a:lnSpc>
                <a:spcPct val="117000"/>
              </a:lnSpc>
              <a:spcBef>
                <a:spcPts val="0"/>
              </a:spcBef>
              <a:spcAft>
                <a:spcPts val="0"/>
              </a:spcAft>
            </a:pPr>
            <a:r>
              <a:rPr sz="1019" b="0">
                <a:solidFill>
                  <a:srgbClr val="9DB0BE"/>
                </a:solidFill>
                <a:latin typeface="UnDotum"/>
              </a:rPr>
              <a:t>Worker와 분리된 제어 영역  ·  관리 키 비노출  ·  실행 증거 기반 복구</a:t>
            </a:r>
          </a:p>
        </p:txBody>
      </p:sp>
      <p:sp>
        <p:nvSpPr>
          <p:cNvPr id="52" name="TextBox 51"/>
          <p:cNvSpPr txBox="1"/>
          <p:nvPr/>
        </p:nvSpPr>
        <p:spPr>
          <a:xfrm>
            <a:off x="8229600" y="6499860"/>
            <a:ext cx="3543300" cy="243840"/>
          </a:xfrm>
          <a:prstGeom prst="rect">
            <a:avLst/>
          </a:prstGeom>
          <a:noFill/>
        </p:spPr>
        <p:txBody>
          <a:bodyPr wrap="none" lIns="0" rIns="0" tIns="0" bIns="0">
            <a:spAutoFit/>
          </a:bodyPr>
          <a:lstStyle/>
          <a:p>
            <a:pPr>
              <a:lnSpc>
                <a:spcPct val="117000"/>
              </a:lnSpc>
              <a:spcBef>
                <a:spcPts val="0"/>
              </a:spcBef>
              <a:spcAft>
                <a:spcPts val="0"/>
              </a:spcAft>
            </a:pPr>
            <a:r>
              <a:rPr sz="1140" b="0">
                <a:solidFill>
                  <a:srgbClr val="65DEC0"/>
                </a:solidFill>
                <a:latin typeface="UnDotum"/>
                <a:hlinkClick r:id="rId2"/>
              </a:rPr>
              <a:t>github.com/Jake-Song/daytona-hack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AgentZero — Self-Healing Security Sandbox</dc:title>
  <dc:subject>One-page hackathon pitch</dc:subject>
  <dc:creator>AgentZero</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